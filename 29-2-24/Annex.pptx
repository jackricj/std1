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7556500" cy="10693400"/>
  <p:notesSz cx="6858000" cy="9144000"/>
  <p:embeddedFontLst>
    <p:embeddedFont>
      <p:font typeface="Arial Nova" panose="020B0504020202020204" pitchFamily="34" charset="0"/>
      <p:regular r:id="rId7"/>
    </p:embeddedFont>
    <p:embeddedFont>
      <p:font typeface="Arial Nova Bold" panose="020B0804020202020204" charset="0"/>
      <p:regular r:id="rId8"/>
    </p:embeddedFont>
    <p:embeddedFont>
      <p:font typeface="Baron Bold" panose="020B0604020202020204" charset="0"/>
      <p:regular r:id="rId9"/>
    </p:embeddedFont>
    <p:embeddedFont>
      <p:font typeface="Canva Sans" panose="020B0604020202020204" charset="0"/>
      <p:regular r:id="rId10"/>
    </p:embeddedFont>
    <p:embeddedFont>
      <p:font typeface="Canva Sans Bold" panose="020B0604020202020204" charset="0"/>
      <p:regular r:id="rId11"/>
    </p:embeddedFont>
    <p:embeddedFont>
      <p:font typeface="Genty Sans" panose="020B0604020202020204" charset="0"/>
      <p:regular r:id="rId12"/>
    </p:embeddedFont>
    <p:embeddedFont>
      <p:font typeface="Poppins" panose="00000500000000000000" pitchFamily="2" charset="0"/>
      <p:regular r:id="rId13"/>
      <p:bold r:id="rId14"/>
      <p:italic r:id="rId15"/>
      <p:boldItalic r:id="rId16"/>
    </p:embeddedFont>
    <p:embeddedFont>
      <p:font typeface="Telegraf Ultra-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933" y="-18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13.png"/><Relationship Id="rId5" Type="http://schemas.openxmlformats.org/officeDocument/2006/relationships/image" Target="../media/image21.svg"/><Relationship Id="rId10" Type="http://schemas.openxmlformats.org/officeDocument/2006/relationships/image" Target="../media/image26.jpeg"/><Relationship Id="rId4" Type="http://schemas.openxmlformats.org/officeDocument/2006/relationships/image" Target="../media/image20.png"/><Relationship Id="rId9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884000" flipV="1">
            <a:off x="-2732699" y="-1021515"/>
            <a:ext cx="13018723" cy="12739605"/>
          </a:xfrm>
          <a:custGeom>
            <a:avLst/>
            <a:gdLst/>
            <a:ahLst/>
            <a:cxnLst/>
            <a:rect l="l" t="t" r="r" b="b"/>
            <a:pathLst>
              <a:path w="13018723" h="12739605">
                <a:moveTo>
                  <a:pt x="13018723" y="5665833"/>
                </a:moveTo>
                <a:lnTo>
                  <a:pt x="8023619" y="0"/>
                </a:lnTo>
                <a:lnTo>
                  <a:pt x="0" y="7073772"/>
                </a:lnTo>
                <a:lnTo>
                  <a:pt x="4995104" y="12739605"/>
                </a:lnTo>
                <a:lnTo>
                  <a:pt x="13018723" y="5665833"/>
                </a:lnTo>
                <a:close/>
              </a:path>
            </a:pathLst>
          </a:custGeom>
          <a:blipFill>
            <a:blip r:embed="rId2"/>
            <a:stretch>
              <a:fillRect l="-198983" t="-205476" r="-1212" b="-129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94448" y="864000"/>
            <a:ext cx="760366" cy="745158"/>
          </a:xfrm>
          <a:custGeom>
            <a:avLst/>
            <a:gdLst/>
            <a:ahLst/>
            <a:cxnLst/>
            <a:rect l="l" t="t" r="r" b="b"/>
            <a:pathLst>
              <a:path w="760366" h="745158">
                <a:moveTo>
                  <a:pt x="0" y="0"/>
                </a:moveTo>
                <a:lnTo>
                  <a:pt x="760366" y="0"/>
                </a:lnTo>
                <a:lnTo>
                  <a:pt x="760366" y="745158"/>
                </a:lnTo>
                <a:lnTo>
                  <a:pt x="0" y="7451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299338" y="166659"/>
            <a:ext cx="2611390" cy="219647"/>
            <a:chOff x="0" y="0"/>
            <a:chExt cx="3481853" cy="292863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21869"/>
              <a:ext cx="249154" cy="249154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2083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42910" y="-28575"/>
              <a:ext cx="3138943" cy="321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49"/>
                </a:lnSpc>
              </a:pPr>
              <a:r>
                <a:rPr lang="en-US" sz="1463">
                  <a:solidFill>
                    <a:srgbClr val="FFFFFF"/>
                  </a:solidFill>
                  <a:latin typeface="Arial Nova"/>
                </a:rPr>
                <a:t>ANNEX ‘A’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06998" y="3177682"/>
            <a:ext cx="2503729" cy="537767"/>
            <a:chOff x="0" y="0"/>
            <a:chExt cx="2623817" cy="574103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623817" cy="574103"/>
              <a:chOff x="0" y="0"/>
              <a:chExt cx="575449" cy="12591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575449" cy="125911"/>
              </a:xfrm>
              <a:custGeom>
                <a:avLst/>
                <a:gdLst/>
                <a:ahLst/>
                <a:cxnLst/>
                <a:rect l="l" t="t" r="r" b="b"/>
                <a:pathLst>
                  <a:path w="575449" h="125911">
                    <a:moveTo>
                      <a:pt x="62955" y="0"/>
                    </a:moveTo>
                    <a:lnTo>
                      <a:pt x="512493" y="0"/>
                    </a:lnTo>
                    <a:cubicBezTo>
                      <a:pt x="529190" y="0"/>
                      <a:pt x="545203" y="6633"/>
                      <a:pt x="557010" y="18439"/>
                    </a:cubicBezTo>
                    <a:cubicBezTo>
                      <a:pt x="568816" y="30246"/>
                      <a:pt x="575449" y="46259"/>
                      <a:pt x="575449" y="62955"/>
                    </a:cubicBezTo>
                    <a:lnTo>
                      <a:pt x="575449" y="62955"/>
                    </a:lnTo>
                    <a:cubicBezTo>
                      <a:pt x="575449" y="79652"/>
                      <a:pt x="568816" y="95665"/>
                      <a:pt x="557010" y="107472"/>
                    </a:cubicBezTo>
                    <a:cubicBezTo>
                      <a:pt x="545203" y="119278"/>
                      <a:pt x="529190" y="125911"/>
                      <a:pt x="512493" y="125911"/>
                    </a:cubicBezTo>
                    <a:lnTo>
                      <a:pt x="62955" y="125911"/>
                    </a:lnTo>
                    <a:cubicBezTo>
                      <a:pt x="46259" y="125911"/>
                      <a:pt x="30246" y="119278"/>
                      <a:pt x="18439" y="107472"/>
                    </a:cubicBezTo>
                    <a:cubicBezTo>
                      <a:pt x="6633" y="95665"/>
                      <a:pt x="0" y="79652"/>
                      <a:pt x="0" y="62955"/>
                    </a:cubicBezTo>
                    <a:lnTo>
                      <a:pt x="0" y="62955"/>
                    </a:lnTo>
                    <a:cubicBezTo>
                      <a:pt x="0" y="46259"/>
                      <a:pt x="6633" y="30246"/>
                      <a:pt x="18439" y="18439"/>
                    </a:cubicBezTo>
                    <a:cubicBezTo>
                      <a:pt x="30246" y="6633"/>
                      <a:pt x="46259" y="0"/>
                      <a:pt x="6295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575449" cy="154486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208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9337" y="130138"/>
              <a:ext cx="2148270" cy="3957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8"/>
                </a:lnSpc>
                <a:spcBef>
                  <a:spcPct val="0"/>
                </a:spcBef>
              </a:pPr>
              <a:r>
                <a:rPr lang="en-US" sz="1813" dirty="0">
                  <a:solidFill>
                    <a:srgbClr val="716DC2"/>
                  </a:solidFill>
                  <a:latin typeface="Arial Nova Bold"/>
                </a:rPr>
                <a:t>KEY BENEFITS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01614" y="6403937"/>
            <a:ext cx="2306400" cy="389726"/>
            <a:chOff x="0" y="0"/>
            <a:chExt cx="3075200" cy="51963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3010522" cy="519634"/>
              <a:chOff x="0" y="0"/>
              <a:chExt cx="667785" cy="11526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67785" cy="115264"/>
              </a:xfrm>
              <a:custGeom>
                <a:avLst/>
                <a:gdLst/>
                <a:ahLst/>
                <a:cxnLst/>
                <a:rect l="l" t="t" r="r" b="b"/>
                <a:pathLst>
                  <a:path w="667785" h="115264">
                    <a:moveTo>
                      <a:pt x="57632" y="0"/>
                    </a:moveTo>
                    <a:lnTo>
                      <a:pt x="610153" y="0"/>
                    </a:lnTo>
                    <a:cubicBezTo>
                      <a:pt x="625438" y="0"/>
                      <a:pt x="640096" y="6072"/>
                      <a:pt x="650905" y="16880"/>
                    </a:cubicBezTo>
                    <a:cubicBezTo>
                      <a:pt x="661713" y="27688"/>
                      <a:pt x="667785" y="42347"/>
                      <a:pt x="667785" y="57632"/>
                    </a:cubicBezTo>
                    <a:lnTo>
                      <a:pt x="667785" y="57632"/>
                    </a:lnTo>
                    <a:cubicBezTo>
                      <a:pt x="667785" y="89461"/>
                      <a:pt x="641982" y="115264"/>
                      <a:pt x="610153" y="115264"/>
                    </a:cubicBezTo>
                    <a:lnTo>
                      <a:pt x="57632" y="115264"/>
                    </a:lnTo>
                    <a:cubicBezTo>
                      <a:pt x="25803" y="115264"/>
                      <a:pt x="0" y="89461"/>
                      <a:pt x="0" y="57632"/>
                    </a:cubicBezTo>
                    <a:lnTo>
                      <a:pt x="0" y="57632"/>
                    </a:lnTo>
                    <a:cubicBezTo>
                      <a:pt x="0" y="25803"/>
                      <a:pt x="25803" y="0"/>
                      <a:pt x="5763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28575"/>
                <a:ext cx="667785" cy="143839"/>
              </a:xfrm>
              <a:prstGeom prst="rect">
                <a:avLst/>
              </a:prstGeom>
            </p:spPr>
            <p:txBody>
              <a:bodyPr lIns="83054" tIns="83054" rIns="83054" bIns="83054" rtlCol="0" anchor="ctr"/>
              <a:lstStyle/>
              <a:p>
                <a:pPr algn="r">
                  <a:lnSpc>
                    <a:spcPts val="208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75189" y="68899"/>
              <a:ext cx="2900010" cy="3917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09"/>
                </a:lnSpc>
                <a:spcBef>
                  <a:spcPct val="0"/>
                </a:spcBef>
              </a:pPr>
              <a:r>
                <a:rPr lang="en-US" sz="1792">
                  <a:solidFill>
                    <a:srgbClr val="716DC2"/>
                  </a:solidFill>
                  <a:latin typeface="Arial Nova Bold"/>
                </a:rPr>
                <a:t>ESTIMATED COST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733274" y="869641"/>
            <a:ext cx="7654875" cy="64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21"/>
              </a:lnSpc>
            </a:pPr>
            <a:r>
              <a:rPr lang="en-US" sz="3729" dirty="0">
                <a:solidFill>
                  <a:srgbClr val="FFFFFF"/>
                </a:solidFill>
                <a:latin typeface="Baron Bold"/>
              </a:rPr>
              <a:t>ADOBE FRAMEMAKER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6999" y="1964808"/>
            <a:ext cx="6746001" cy="735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8"/>
              </a:lnSpc>
            </a:pPr>
            <a:r>
              <a:rPr lang="en-US" sz="1413">
                <a:solidFill>
                  <a:srgbClr val="FFFFFF"/>
                </a:solidFill>
                <a:latin typeface="Arial Nova Bold"/>
              </a:rPr>
              <a:t>ADOBE FRAMEMAKER WILL ENABLE THE CREATION OF MORE INTERACTIVE AND ENGAGING MANUALS, REDUCING COMPLEXITY AND IMPROVING USER COMPREHENSION.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9338" y="3624084"/>
            <a:ext cx="7114104" cy="255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2390" lvl="1" indent="-181195">
              <a:lnSpc>
                <a:spcPts val="4196"/>
              </a:lnSpc>
              <a:buFont typeface="Arial"/>
              <a:buChar char="•"/>
            </a:pPr>
            <a:r>
              <a:rPr lang="en-US" sz="1678" dirty="0">
                <a:solidFill>
                  <a:srgbClr val="FFFFFF"/>
                </a:solidFill>
                <a:latin typeface="Arial Nova"/>
              </a:rPr>
              <a:t>Rich media integration: Embed 3D models and  videos.</a:t>
            </a:r>
          </a:p>
          <a:p>
            <a:pPr marL="362390" lvl="1" indent="-181195">
              <a:lnSpc>
                <a:spcPts val="4196"/>
              </a:lnSpc>
              <a:buFont typeface="Arial"/>
              <a:buChar char="•"/>
            </a:pPr>
            <a:r>
              <a:rPr lang="en-US" sz="1678" dirty="0">
                <a:solidFill>
                  <a:srgbClr val="FFFFFF"/>
                </a:solidFill>
                <a:latin typeface="Arial Nova"/>
              </a:rPr>
              <a:t>Multi-channel publishing: Manuals for PCs, Tablets, Webpages.</a:t>
            </a:r>
          </a:p>
          <a:p>
            <a:pPr marL="362390" lvl="1" indent="-181195">
              <a:lnSpc>
                <a:spcPts val="4196"/>
              </a:lnSpc>
              <a:buFont typeface="Arial"/>
              <a:buChar char="•"/>
            </a:pPr>
            <a:r>
              <a:rPr lang="en-US" sz="1678" dirty="0">
                <a:solidFill>
                  <a:srgbClr val="FFFFFF"/>
                </a:solidFill>
                <a:latin typeface="Arial Nova"/>
              </a:rPr>
              <a:t>Enhanced XML/DITA support: Creation of standardized documents.</a:t>
            </a:r>
          </a:p>
          <a:p>
            <a:pPr marL="362390" lvl="1" indent="-181195">
              <a:lnSpc>
                <a:spcPts val="4196"/>
              </a:lnSpc>
              <a:buFont typeface="Arial"/>
              <a:buChar char="•"/>
            </a:pPr>
            <a:r>
              <a:rPr lang="en-US" sz="1678" dirty="0">
                <a:solidFill>
                  <a:srgbClr val="FFFFFF"/>
                </a:solidFill>
                <a:latin typeface="Arial Nova"/>
              </a:rPr>
              <a:t>Collaboration tools: Simplifies review and editing processes.</a:t>
            </a:r>
          </a:p>
          <a:p>
            <a:pPr>
              <a:lnSpc>
                <a:spcPts val="4196"/>
              </a:lnSpc>
            </a:pPr>
            <a:endParaRPr lang="en-US" sz="1678" dirty="0">
              <a:solidFill>
                <a:srgbClr val="FFFFFF"/>
              </a:solidFill>
              <a:latin typeface="Arial Nova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45896" y="6904261"/>
            <a:ext cx="7114104" cy="979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6"/>
              </a:lnSpc>
            </a:pPr>
            <a:r>
              <a:rPr lang="en-US" sz="1678">
                <a:solidFill>
                  <a:srgbClr val="FFFFFF"/>
                </a:solidFill>
                <a:latin typeface="Arial Nova"/>
              </a:rPr>
              <a:t>1 license  -  $480 (annually)</a:t>
            </a:r>
          </a:p>
          <a:p>
            <a:pPr>
              <a:lnSpc>
                <a:spcPts val="4196"/>
              </a:lnSpc>
            </a:pPr>
            <a:endParaRPr lang="en-US" sz="1678">
              <a:solidFill>
                <a:srgbClr val="FFFFFF"/>
              </a:solidFill>
              <a:latin typeface="Arial Nova"/>
            </a:endParaRPr>
          </a:p>
        </p:txBody>
      </p: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5723106" y="6175337"/>
            <a:ext cx="1969382" cy="1969374"/>
            <a:chOff x="0" y="0"/>
            <a:chExt cx="6350000" cy="634997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33329" t="-14875" r="-23548" b="-1125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06999" y="7992219"/>
            <a:ext cx="1477386" cy="403917"/>
            <a:chOff x="0" y="0"/>
            <a:chExt cx="1969848" cy="538555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1969848" cy="538555"/>
              <a:chOff x="0" y="0"/>
              <a:chExt cx="436945" cy="11946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436945" cy="119461"/>
              </a:xfrm>
              <a:custGeom>
                <a:avLst/>
                <a:gdLst/>
                <a:ahLst/>
                <a:cxnLst/>
                <a:rect l="l" t="t" r="r" b="b"/>
                <a:pathLst>
                  <a:path w="436945" h="119461">
                    <a:moveTo>
                      <a:pt x="59730" y="0"/>
                    </a:moveTo>
                    <a:lnTo>
                      <a:pt x="377215" y="0"/>
                    </a:lnTo>
                    <a:cubicBezTo>
                      <a:pt x="393057" y="0"/>
                      <a:pt x="408249" y="6293"/>
                      <a:pt x="419451" y="17495"/>
                    </a:cubicBezTo>
                    <a:cubicBezTo>
                      <a:pt x="430652" y="28696"/>
                      <a:pt x="436945" y="43889"/>
                      <a:pt x="436945" y="59730"/>
                    </a:cubicBezTo>
                    <a:lnTo>
                      <a:pt x="436945" y="59730"/>
                    </a:lnTo>
                    <a:cubicBezTo>
                      <a:pt x="436945" y="92718"/>
                      <a:pt x="410203" y="119461"/>
                      <a:pt x="377215" y="119461"/>
                    </a:cubicBezTo>
                    <a:lnTo>
                      <a:pt x="59730" y="119461"/>
                    </a:lnTo>
                    <a:cubicBezTo>
                      <a:pt x="43889" y="119461"/>
                      <a:pt x="28696" y="113168"/>
                      <a:pt x="17495" y="101966"/>
                    </a:cubicBezTo>
                    <a:cubicBezTo>
                      <a:pt x="6293" y="90764"/>
                      <a:pt x="0" y="75572"/>
                      <a:pt x="0" y="59730"/>
                    </a:cubicBezTo>
                    <a:lnTo>
                      <a:pt x="0" y="59730"/>
                    </a:lnTo>
                    <a:cubicBezTo>
                      <a:pt x="0" y="43889"/>
                      <a:pt x="6293" y="28696"/>
                      <a:pt x="17495" y="17495"/>
                    </a:cubicBezTo>
                    <a:cubicBezTo>
                      <a:pt x="28696" y="6293"/>
                      <a:pt x="43889" y="0"/>
                      <a:pt x="5973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436945" cy="148036"/>
              </a:xfrm>
              <a:prstGeom prst="rect">
                <a:avLst/>
              </a:prstGeom>
            </p:spPr>
            <p:txBody>
              <a:bodyPr lIns="83054" tIns="83054" rIns="83054" bIns="83054" rtlCol="0" anchor="ctr"/>
              <a:lstStyle/>
              <a:p>
                <a:pPr algn="r">
                  <a:lnSpc>
                    <a:spcPts val="208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75189" y="68899"/>
              <a:ext cx="1593177" cy="3917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09"/>
                </a:lnSpc>
                <a:spcBef>
                  <a:spcPct val="0"/>
                </a:spcBef>
              </a:pPr>
              <a:r>
                <a:rPr lang="en-US" sz="1792">
                  <a:solidFill>
                    <a:srgbClr val="716DC2"/>
                  </a:solidFill>
                  <a:latin typeface="Arial Nova Bold"/>
                </a:rPr>
                <a:t>TRAINING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451281" y="8492543"/>
            <a:ext cx="7114104" cy="456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6"/>
              </a:lnSpc>
            </a:pPr>
            <a:r>
              <a:rPr lang="en-US" sz="1678">
                <a:solidFill>
                  <a:srgbClr val="FFFFFF"/>
                </a:solidFill>
                <a:latin typeface="Arial Nova"/>
              </a:rPr>
              <a:t>$750 (Per Person)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64E30-BAC8-C7C8-C3E2-0195992C1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9A1973C-F7D4-EBF5-D2F2-AC49719BA0B2}"/>
              </a:ext>
            </a:extLst>
          </p:cNvPr>
          <p:cNvSpPr/>
          <p:nvPr/>
        </p:nvSpPr>
        <p:spPr>
          <a:xfrm rot="-7884000" flipV="1">
            <a:off x="-2731113" y="-1023103"/>
            <a:ext cx="13018723" cy="12739605"/>
          </a:xfrm>
          <a:custGeom>
            <a:avLst/>
            <a:gdLst/>
            <a:ahLst/>
            <a:cxnLst/>
            <a:rect l="l" t="t" r="r" b="b"/>
            <a:pathLst>
              <a:path w="13018723" h="12739605">
                <a:moveTo>
                  <a:pt x="13018723" y="5665833"/>
                </a:moveTo>
                <a:lnTo>
                  <a:pt x="8023619" y="0"/>
                </a:lnTo>
                <a:lnTo>
                  <a:pt x="0" y="7073772"/>
                </a:lnTo>
                <a:lnTo>
                  <a:pt x="4995104" y="12739605"/>
                </a:lnTo>
                <a:lnTo>
                  <a:pt x="13018723" y="5665833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8000">
                <a:srgbClr val="0070C0"/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E3AFA62-E418-1039-E317-083A3C1403BF}"/>
              </a:ext>
            </a:extLst>
          </p:cNvPr>
          <p:cNvSpPr/>
          <p:nvPr/>
        </p:nvSpPr>
        <p:spPr>
          <a:xfrm>
            <a:off x="5207456" y="10117063"/>
            <a:ext cx="1780255" cy="216867"/>
          </a:xfrm>
          <a:custGeom>
            <a:avLst/>
            <a:gdLst/>
            <a:ahLst/>
            <a:cxnLst/>
            <a:rect l="l" t="t" r="r" b="b"/>
            <a:pathLst>
              <a:path w="1780255" h="216867">
                <a:moveTo>
                  <a:pt x="0" y="0"/>
                </a:moveTo>
                <a:lnTo>
                  <a:pt x="1780255" y="0"/>
                </a:lnTo>
                <a:lnTo>
                  <a:pt x="1780255" y="216867"/>
                </a:lnTo>
                <a:lnTo>
                  <a:pt x="0" y="216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8A69205-6983-AC8D-6E9D-0277050688AE}"/>
              </a:ext>
            </a:extLst>
          </p:cNvPr>
          <p:cNvSpPr/>
          <p:nvPr/>
        </p:nvSpPr>
        <p:spPr>
          <a:xfrm>
            <a:off x="794448" y="864000"/>
            <a:ext cx="760366" cy="745158"/>
          </a:xfrm>
          <a:custGeom>
            <a:avLst/>
            <a:gdLst/>
            <a:ahLst/>
            <a:cxnLst/>
            <a:rect l="l" t="t" r="r" b="b"/>
            <a:pathLst>
              <a:path w="760366" h="745158">
                <a:moveTo>
                  <a:pt x="0" y="0"/>
                </a:moveTo>
                <a:lnTo>
                  <a:pt x="760366" y="0"/>
                </a:lnTo>
                <a:lnTo>
                  <a:pt x="760366" y="745158"/>
                </a:lnTo>
                <a:lnTo>
                  <a:pt x="0" y="745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58558BC-711F-7FF0-7470-920C2D91F61A}"/>
              </a:ext>
            </a:extLst>
          </p:cNvPr>
          <p:cNvSpPr txBox="1"/>
          <p:nvPr/>
        </p:nvSpPr>
        <p:spPr>
          <a:xfrm>
            <a:off x="1733274" y="869641"/>
            <a:ext cx="7654875" cy="64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21"/>
              </a:lnSpc>
            </a:pPr>
            <a:r>
              <a:rPr lang="en-US" sz="3729">
                <a:solidFill>
                  <a:srgbClr val="FFFFFF"/>
                </a:solidFill>
                <a:latin typeface="Baron Bold"/>
              </a:rPr>
              <a:t>ADOBE FRAMEMAKER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563C05C-3D04-EF26-0D78-D42801839C48}"/>
              </a:ext>
            </a:extLst>
          </p:cNvPr>
          <p:cNvGrpSpPr/>
          <p:nvPr/>
        </p:nvGrpSpPr>
        <p:grpSpPr>
          <a:xfrm>
            <a:off x="299338" y="166659"/>
            <a:ext cx="2611390" cy="219647"/>
            <a:chOff x="0" y="0"/>
            <a:chExt cx="3481853" cy="292863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2FAD891-0C37-7595-A4D2-84FF8CDE85FF}"/>
                </a:ext>
              </a:extLst>
            </p:cNvPr>
            <p:cNvGrpSpPr/>
            <p:nvPr/>
          </p:nvGrpSpPr>
          <p:grpSpPr>
            <a:xfrm>
              <a:off x="0" y="21869"/>
              <a:ext cx="249154" cy="249154"/>
              <a:chOff x="0" y="0"/>
              <a:chExt cx="812800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05945962-EA9E-9B87-0FD9-13F13537C25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FA135FD3-5265-D9DA-504E-34807D689EF1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2083"/>
                  </a:lnSpc>
                </a:pPr>
                <a:endParaRPr/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3C0A562-BCEF-DF8C-B31D-A37DA2291D62}"/>
                </a:ext>
              </a:extLst>
            </p:cNvPr>
            <p:cNvSpPr txBox="1"/>
            <p:nvPr/>
          </p:nvSpPr>
          <p:spPr>
            <a:xfrm>
              <a:off x="342910" y="-28575"/>
              <a:ext cx="3138943" cy="321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49"/>
                </a:lnSpc>
              </a:pPr>
              <a:r>
                <a:rPr lang="en-US" sz="1463">
                  <a:solidFill>
                    <a:srgbClr val="FFFFFF"/>
                  </a:solidFill>
                  <a:latin typeface="Arial Nova"/>
                </a:rPr>
                <a:t>ANNEX ‘A’</a:t>
              </a:r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6BAD474B-E378-6C51-DB09-716D91FE4B44}"/>
              </a:ext>
            </a:extLst>
          </p:cNvPr>
          <p:cNvSpPr txBox="1"/>
          <p:nvPr/>
        </p:nvSpPr>
        <p:spPr>
          <a:xfrm>
            <a:off x="406999" y="1964808"/>
            <a:ext cx="6746001" cy="735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8"/>
              </a:lnSpc>
            </a:pPr>
            <a:r>
              <a:rPr lang="en-US" sz="1413" dirty="0">
                <a:solidFill>
                  <a:srgbClr val="FFFFFF"/>
                </a:solidFill>
                <a:latin typeface="Arial Nova Bold"/>
              </a:rPr>
              <a:t>ADOBE FRAMEMAKER WILL ENABLE THE CREATION OF MORE INTERACTIVE AND ENGAGING MANUALS, REDUCING COMPLEXITY AND IMPROVING USER COMPREHENSION.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958545B-0AB1-1762-1A85-FA57301816E2}"/>
              </a:ext>
            </a:extLst>
          </p:cNvPr>
          <p:cNvSpPr txBox="1"/>
          <p:nvPr/>
        </p:nvSpPr>
        <p:spPr>
          <a:xfrm>
            <a:off x="299338" y="3624084"/>
            <a:ext cx="7114104" cy="255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2390" lvl="1" indent="-181195">
              <a:lnSpc>
                <a:spcPts val="4196"/>
              </a:lnSpc>
              <a:buFont typeface="Arial"/>
              <a:buChar char="•"/>
            </a:pPr>
            <a:r>
              <a:rPr lang="en-US" sz="1678" dirty="0">
                <a:solidFill>
                  <a:srgbClr val="FFFFFF"/>
                </a:solidFill>
                <a:latin typeface="Arial Nova"/>
              </a:rPr>
              <a:t>Rich media integration: Embed 3D models and  videos.</a:t>
            </a:r>
          </a:p>
          <a:p>
            <a:pPr marL="362390" lvl="1" indent="-181195">
              <a:lnSpc>
                <a:spcPts val="4196"/>
              </a:lnSpc>
              <a:buFont typeface="Arial"/>
              <a:buChar char="•"/>
            </a:pPr>
            <a:r>
              <a:rPr lang="en-US" sz="1678" dirty="0">
                <a:solidFill>
                  <a:srgbClr val="FFFFFF"/>
                </a:solidFill>
                <a:latin typeface="Arial Nova"/>
              </a:rPr>
              <a:t>Multi-channel publishing: Manuals for PCs, Tablets, Webpages.</a:t>
            </a:r>
          </a:p>
          <a:p>
            <a:pPr marL="362390" lvl="1" indent="-181195">
              <a:lnSpc>
                <a:spcPts val="4196"/>
              </a:lnSpc>
              <a:buFont typeface="Arial"/>
              <a:buChar char="•"/>
            </a:pPr>
            <a:r>
              <a:rPr lang="en-US" sz="1678" dirty="0">
                <a:solidFill>
                  <a:srgbClr val="FFFFFF"/>
                </a:solidFill>
                <a:latin typeface="Arial Nova"/>
              </a:rPr>
              <a:t>Enhanced XML/DITA support: Creation of standardized documents.</a:t>
            </a:r>
          </a:p>
          <a:p>
            <a:pPr marL="362390" lvl="1" indent="-181195">
              <a:lnSpc>
                <a:spcPts val="4196"/>
              </a:lnSpc>
              <a:buFont typeface="Arial"/>
              <a:buChar char="•"/>
            </a:pPr>
            <a:r>
              <a:rPr lang="en-US" sz="1678" dirty="0">
                <a:solidFill>
                  <a:srgbClr val="FFFFFF"/>
                </a:solidFill>
                <a:latin typeface="Arial Nova"/>
              </a:rPr>
              <a:t>Collaboration tools: Simplifies review and editing processes.</a:t>
            </a:r>
          </a:p>
          <a:p>
            <a:pPr>
              <a:lnSpc>
                <a:spcPts val="4196"/>
              </a:lnSpc>
            </a:pPr>
            <a:endParaRPr lang="en-US" sz="1678" dirty="0">
              <a:solidFill>
                <a:srgbClr val="FFFFFF"/>
              </a:solidFill>
              <a:latin typeface="Arial Nova"/>
            </a:endParaRP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AA672A9B-7A43-7B56-0AE9-6F4A50F6A3BB}"/>
              </a:ext>
            </a:extLst>
          </p:cNvPr>
          <p:cNvGrpSpPr/>
          <p:nvPr/>
        </p:nvGrpSpPr>
        <p:grpSpPr>
          <a:xfrm>
            <a:off x="406998" y="3177682"/>
            <a:ext cx="2252507" cy="430577"/>
            <a:chOff x="0" y="0"/>
            <a:chExt cx="2623817" cy="574103"/>
          </a:xfrm>
        </p:grpSpPr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102F0001-3CFF-B2D1-D808-CC6FAD0A9A08}"/>
                </a:ext>
              </a:extLst>
            </p:cNvPr>
            <p:cNvGrpSpPr/>
            <p:nvPr/>
          </p:nvGrpSpPr>
          <p:grpSpPr>
            <a:xfrm>
              <a:off x="0" y="0"/>
              <a:ext cx="2623817" cy="574103"/>
              <a:chOff x="0" y="0"/>
              <a:chExt cx="575449" cy="125911"/>
            </a:xfrm>
          </p:grpSpPr>
          <p:sp>
            <p:nvSpPr>
              <p:cNvPr id="15" name="Freeform 15">
                <a:extLst>
                  <a:ext uri="{FF2B5EF4-FFF2-40B4-BE49-F238E27FC236}">
                    <a16:creationId xmlns:a16="http://schemas.microsoft.com/office/drawing/2014/main" id="{D3ABB77B-02B2-E0A7-DD6C-F58B5128A050}"/>
                  </a:ext>
                </a:extLst>
              </p:cNvPr>
              <p:cNvSpPr/>
              <p:nvPr/>
            </p:nvSpPr>
            <p:spPr>
              <a:xfrm>
                <a:off x="0" y="0"/>
                <a:ext cx="575449" cy="125911"/>
              </a:xfrm>
              <a:custGeom>
                <a:avLst/>
                <a:gdLst/>
                <a:ahLst/>
                <a:cxnLst/>
                <a:rect l="l" t="t" r="r" b="b"/>
                <a:pathLst>
                  <a:path w="575449" h="125911">
                    <a:moveTo>
                      <a:pt x="62955" y="0"/>
                    </a:moveTo>
                    <a:lnTo>
                      <a:pt x="512493" y="0"/>
                    </a:lnTo>
                    <a:cubicBezTo>
                      <a:pt x="529190" y="0"/>
                      <a:pt x="545203" y="6633"/>
                      <a:pt x="557010" y="18439"/>
                    </a:cubicBezTo>
                    <a:cubicBezTo>
                      <a:pt x="568816" y="30246"/>
                      <a:pt x="575449" y="46259"/>
                      <a:pt x="575449" y="62955"/>
                    </a:cubicBezTo>
                    <a:lnTo>
                      <a:pt x="575449" y="62955"/>
                    </a:lnTo>
                    <a:cubicBezTo>
                      <a:pt x="575449" y="79652"/>
                      <a:pt x="568816" y="95665"/>
                      <a:pt x="557010" y="107472"/>
                    </a:cubicBezTo>
                    <a:cubicBezTo>
                      <a:pt x="545203" y="119278"/>
                      <a:pt x="529190" y="125911"/>
                      <a:pt x="512493" y="125911"/>
                    </a:cubicBezTo>
                    <a:lnTo>
                      <a:pt x="62955" y="125911"/>
                    </a:lnTo>
                    <a:cubicBezTo>
                      <a:pt x="46259" y="125911"/>
                      <a:pt x="30246" y="119278"/>
                      <a:pt x="18439" y="107472"/>
                    </a:cubicBezTo>
                    <a:cubicBezTo>
                      <a:pt x="6633" y="95665"/>
                      <a:pt x="0" y="79652"/>
                      <a:pt x="0" y="62955"/>
                    </a:cubicBezTo>
                    <a:lnTo>
                      <a:pt x="0" y="62955"/>
                    </a:lnTo>
                    <a:cubicBezTo>
                      <a:pt x="0" y="46259"/>
                      <a:pt x="6633" y="30246"/>
                      <a:pt x="18439" y="18439"/>
                    </a:cubicBezTo>
                    <a:cubicBezTo>
                      <a:pt x="30246" y="6633"/>
                      <a:pt x="46259" y="0"/>
                      <a:pt x="6295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>
                <a:extLst>
                  <a:ext uri="{FF2B5EF4-FFF2-40B4-BE49-F238E27FC236}">
                    <a16:creationId xmlns:a16="http://schemas.microsoft.com/office/drawing/2014/main" id="{C1E448F4-587E-E17F-6F89-D19EC0CE31F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75449" cy="154486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208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D034FC6C-0D71-DD7F-9C2F-89BBA4D04BF4}"/>
                </a:ext>
              </a:extLst>
            </p:cNvPr>
            <p:cNvSpPr txBox="1"/>
            <p:nvPr/>
          </p:nvSpPr>
          <p:spPr>
            <a:xfrm>
              <a:off x="237773" y="70118"/>
              <a:ext cx="2148270" cy="3957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38"/>
                </a:lnSpc>
                <a:spcBef>
                  <a:spcPct val="0"/>
                </a:spcBef>
              </a:pPr>
              <a:r>
                <a:rPr lang="en-US" sz="1813" dirty="0">
                  <a:solidFill>
                    <a:srgbClr val="0070C0"/>
                  </a:solidFill>
                  <a:latin typeface="Arial Nova Bold"/>
                </a:rPr>
                <a:t>KEY BENEFITS</a:t>
              </a: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5D6A0868-BFA9-217F-59C5-0AFA4C6F640E}"/>
              </a:ext>
            </a:extLst>
          </p:cNvPr>
          <p:cNvGrpSpPr/>
          <p:nvPr/>
        </p:nvGrpSpPr>
        <p:grpSpPr>
          <a:xfrm>
            <a:off x="401614" y="6403937"/>
            <a:ext cx="2306400" cy="389726"/>
            <a:chOff x="0" y="0"/>
            <a:chExt cx="3075200" cy="519634"/>
          </a:xfrm>
        </p:grpSpPr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A741B887-5E5A-1EBA-73C0-A544F6F2F8B4}"/>
                </a:ext>
              </a:extLst>
            </p:cNvPr>
            <p:cNvGrpSpPr/>
            <p:nvPr/>
          </p:nvGrpSpPr>
          <p:grpSpPr>
            <a:xfrm>
              <a:off x="0" y="0"/>
              <a:ext cx="3010522" cy="519634"/>
              <a:chOff x="0" y="0"/>
              <a:chExt cx="667785" cy="115264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691B1CA5-502A-8C1E-3232-D499931B81D2}"/>
                  </a:ext>
                </a:extLst>
              </p:cNvPr>
              <p:cNvSpPr/>
              <p:nvPr/>
            </p:nvSpPr>
            <p:spPr>
              <a:xfrm>
                <a:off x="0" y="0"/>
                <a:ext cx="667785" cy="115264"/>
              </a:xfrm>
              <a:custGeom>
                <a:avLst/>
                <a:gdLst/>
                <a:ahLst/>
                <a:cxnLst/>
                <a:rect l="l" t="t" r="r" b="b"/>
                <a:pathLst>
                  <a:path w="667785" h="115264">
                    <a:moveTo>
                      <a:pt x="57632" y="0"/>
                    </a:moveTo>
                    <a:lnTo>
                      <a:pt x="610153" y="0"/>
                    </a:lnTo>
                    <a:cubicBezTo>
                      <a:pt x="625438" y="0"/>
                      <a:pt x="640096" y="6072"/>
                      <a:pt x="650905" y="16880"/>
                    </a:cubicBezTo>
                    <a:cubicBezTo>
                      <a:pt x="661713" y="27688"/>
                      <a:pt x="667785" y="42347"/>
                      <a:pt x="667785" y="57632"/>
                    </a:cubicBezTo>
                    <a:lnTo>
                      <a:pt x="667785" y="57632"/>
                    </a:lnTo>
                    <a:cubicBezTo>
                      <a:pt x="667785" y="89461"/>
                      <a:pt x="641982" y="115264"/>
                      <a:pt x="610153" y="115264"/>
                    </a:cubicBezTo>
                    <a:lnTo>
                      <a:pt x="57632" y="115264"/>
                    </a:lnTo>
                    <a:cubicBezTo>
                      <a:pt x="25803" y="115264"/>
                      <a:pt x="0" y="89461"/>
                      <a:pt x="0" y="57632"/>
                    </a:cubicBezTo>
                    <a:lnTo>
                      <a:pt x="0" y="57632"/>
                    </a:lnTo>
                    <a:cubicBezTo>
                      <a:pt x="0" y="25803"/>
                      <a:pt x="25803" y="0"/>
                      <a:pt x="5763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B0ADA670-EF00-18EA-51B6-B81032A1E54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667785" cy="143839"/>
              </a:xfrm>
              <a:prstGeom prst="rect">
                <a:avLst/>
              </a:prstGeom>
            </p:spPr>
            <p:txBody>
              <a:bodyPr lIns="83054" tIns="83054" rIns="83054" bIns="83054" rtlCol="0" anchor="ctr"/>
              <a:lstStyle/>
              <a:p>
                <a:pPr algn="r">
                  <a:lnSpc>
                    <a:spcPts val="208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4EBE61DA-3433-426D-BB75-1BEFD9328631}"/>
                </a:ext>
              </a:extLst>
            </p:cNvPr>
            <p:cNvSpPr txBox="1"/>
            <p:nvPr/>
          </p:nvSpPr>
          <p:spPr>
            <a:xfrm>
              <a:off x="175189" y="68899"/>
              <a:ext cx="2900010" cy="3917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09"/>
                </a:lnSpc>
                <a:spcBef>
                  <a:spcPct val="0"/>
                </a:spcBef>
              </a:pPr>
              <a:r>
                <a:rPr lang="en-US" sz="1792" dirty="0">
                  <a:solidFill>
                    <a:srgbClr val="0070C0"/>
                  </a:solidFill>
                  <a:latin typeface="Arial Nova Bold"/>
                </a:rPr>
                <a:t>ESTIMATED COST</a:t>
              </a:r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D19780E6-E185-C7B7-1053-26BEC05974FA}"/>
              </a:ext>
            </a:extLst>
          </p:cNvPr>
          <p:cNvSpPr txBox="1"/>
          <p:nvPr/>
        </p:nvSpPr>
        <p:spPr>
          <a:xfrm>
            <a:off x="445896" y="6904261"/>
            <a:ext cx="7114104" cy="979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6"/>
              </a:lnSpc>
            </a:pPr>
            <a:r>
              <a:rPr lang="en-US" sz="1678">
                <a:solidFill>
                  <a:srgbClr val="FFFFFF"/>
                </a:solidFill>
                <a:latin typeface="Arial Nova"/>
              </a:rPr>
              <a:t>1 license  -  $480 (annually)</a:t>
            </a:r>
          </a:p>
          <a:p>
            <a:pPr>
              <a:lnSpc>
                <a:spcPts val="4196"/>
              </a:lnSpc>
            </a:pPr>
            <a:endParaRPr lang="en-US" sz="1678">
              <a:solidFill>
                <a:srgbClr val="FFFFFF"/>
              </a:solidFill>
              <a:latin typeface="Arial Nova"/>
            </a:endParaRPr>
          </a:p>
        </p:txBody>
      </p:sp>
    </p:spTree>
    <p:extLst>
      <p:ext uri="{BB962C8B-B14F-4D97-AF65-F5344CB8AC3E}">
        <p14:creationId xmlns:p14="http://schemas.microsoft.com/office/powerpoint/2010/main" val="2092546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884000" flipV="1">
            <a:off x="-2732699" y="-1021515"/>
            <a:ext cx="13018723" cy="12739605"/>
          </a:xfrm>
          <a:custGeom>
            <a:avLst/>
            <a:gdLst/>
            <a:ahLst/>
            <a:cxnLst/>
            <a:rect l="l" t="t" r="r" b="b"/>
            <a:pathLst>
              <a:path w="13018723" h="12739605">
                <a:moveTo>
                  <a:pt x="13018723" y="5665833"/>
                </a:moveTo>
                <a:lnTo>
                  <a:pt x="8023619" y="0"/>
                </a:lnTo>
                <a:lnTo>
                  <a:pt x="0" y="7073772"/>
                </a:lnTo>
                <a:lnTo>
                  <a:pt x="4995104" y="12739605"/>
                </a:lnTo>
                <a:lnTo>
                  <a:pt x="13018723" y="5665833"/>
                </a:lnTo>
                <a:close/>
              </a:path>
            </a:pathLst>
          </a:custGeom>
          <a:blipFill>
            <a:blip r:embed="rId2"/>
            <a:stretch>
              <a:fillRect l="-198983" t="-205476" r="-1212" b="-129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99338" y="166659"/>
            <a:ext cx="2611390" cy="219647"/>
            <a:chOff x="0" y="0"/>
            <a:chExt cx="3481853" cy="29286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21869"/>
              <a:ext cx="249154" cy="249154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2083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342910" y="-28575"/>
              <a:ext cx="3138943" cy="321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49"/>
                </a:lnSpc>
              </a:pPr>
              <a:r>
                <a:rPr lang="en-US" sz="1463">
                  <a:solidFill>
                    <a:srgbClr val="FFFFFF"/>
                  </a:solidFill>
                  <a:latin typeface="Arial Nova"/>
                </a:rPr>
                <a:t>ANNEX ‘B’</a:t>
              </a: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299338" y="2806517"/>
          <a:ext cx="6986590" cy="6236057"/>
        </p:xfrm>
        <a:graphic>
          <a:graphicData uri="http://schemas.openxmlformats.org/drawingml/2006/table">
            <a:tbl>
              <a:tblPr/>
              <a:tblGrid>
                <a:gridCol w="1735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9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6396">
                <a:tc>
                  <a:txBody>
                    <a:bodyPr/>
                    <a:lstStyle/>
                    <a:p>
                      <a:pPr algn="l">
                        <a:lnSpc>
                          <a:spcPts val="2143"/>
                        </a:lnSpc>
                        <a:defRPr/>
                      </a:pPr>
                      <a:r>
                        <a:rPr lang="en-US" sz="1531">
                          <a:solidFill>
                            <a:srgbClr val="FFFFFF"/>
                          </a:solidFill>
                          <a:latin typeface="Canva Sans Bold"/>
                        </a:rPr>
                        <a:t>Resource Type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CA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43"/>
                        </a:lnSpc>
                        <a:defRPr/>
                      </a:pPr>
                      <a:r>
                        <a:rPr lang="en-US" sz="1531">
                          <a:solidFill>
                            <a:srgbClr val="FFFFFF"/>
                          </a:solidFill>
                          <a:latin typeface="Canva Sans Bold"/>
                        </a:rPr>
                        <a:t>Resource Name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CA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43"/>
                        </a:lnSpc>
                        <a:defRPr/>
                      </a:pPr>
                      <a:r>
                        <a:rPr lang="en-US" sz="1531">
                          <a:solidFill>
                            <a:srgbClr val="FFFFFF"/>
                          </a:solidFill>
                          <a:latin typeface="Canva Sans Bold"/>
                        </a:rPr>
                        <a:t>Quantity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CA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43"/>
                        </a:lnSpc>
                        <a:defRPr/>
                      </a:pPr>
                      <a:r>
                        <a:rPr lang="en-US" sz="1531">
                          <a:solidFill>
                            <a:srgbClr val="FFFFFF"/>
                          </a:solidFill>
                          <a:latin typeface="Canva Sans Bold"/>
                        </a:rPr>
                        <a:t>Estimated Cost 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C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587"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CPUs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Intel Core i7-12700F 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3 units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$500 * 3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6348">
                <a:tc gridSpan="2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 Bold"/>
                        </a:rPr>
                        <a:t>Key Benefit: </a:t>
                      </a: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The Intel Core i7-12700F Workstation provides robust multitasking and fast processing for complex technical publishing software.</a:t>
                      </a: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 Bold"/>
                        </a:rPr>
                        <a:t>Key Benefit: </a:t>
                      </a: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The Intel Core i7-12700F Workstation provides robust multitasking and fast processing for complex technical publishing software.</a:t>
                      </a: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587"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Monitors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Dell UltraSharp U2720Q 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3 units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$900 * 3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7396">
                <a:tc gridSpan="2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 Bold"/>
                        </a:rPr>
                        <a:t>Key Benefit:</a:t>
                      </a: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 </a:t>
                      </a: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It offers 4K resolution and accurate color representation for precise editing and layout work.</a:t>
                      </a: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 Bold"/>
                        </a:rPr>
                        <a:t>Key Benefit:</a:t>
                      </a: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 </a:t>
                      </a: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It offers 4K resolution and accurate color representation for precise editing and layout work.</a:t>
                      </a: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587"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Tablets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iPad 10.2" WiFi 32GB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10 units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$160 * 10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6348">
                <a:tc gridSpan="2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 Bold"/>
                        </a:rPr>
                        <a:t>Key Benefit:</a:t>
                      </a: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 </a:t>
                      </a: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It offers access to the technical publications to the users on the field with interactive 3D simulations and video for enhanced user experience.</a:t>
                      </a: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 Bold"/>
                        </a:rPr>
                        <a:t>Key Benefit:</a:t>
                      </a: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 </a:t>
                      </a: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It offers access to the technical publications to the users on the field with interactive 3D simulations and video for enhanced user experience.</a:t>
                      </a: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Freeform 9"/>
          <p:cNvSpPr/>
          <p:nvPr/>
        </p:nvSpPr>
        <p:spPr>
          <a:xfrm rot="1059656">
            <a:off x="6040446" y="7708265"/>
            <a:ext cx="1326219" cy="1326219"/>
          </a:xfrm>
          <a:custGeom>
            <a:avLst/>
            <a:gdLst/>
            <a:ahLst/>
            <a:cxnLst/>
            <a:rect l="l" t="t" r="r" b="b"/>
            <a:pathLst>
              <a:path w="1326219" h="1326219">
                <a:moveTo>
                  <a:pt x="0" y="0"/>
                </a:moveTo>
                <a:lnTo>
                  <a:pt x="1326219" y="0"/>
                </a:lnTo>
                <a:lnTo>
                  <a:pt x="1326219" y="1326219"/>
                </a:lnTo>
                <a:lnTo>
                  <a:pt x="0" y="1326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961036" y="4087799"/>
            <a:ext cx="1173199" cy="1160200"/>
          </a:xfrm>
          <a:custGeom>
            <a:avLst/>
            <a:gdLst/>
            <a:ahLst/>
            <a:cxnLst/>
            <a:rect l="l" t="t" r="r" b="b"/>
            <a:pathLst>
              <a:path w="1173199" h="1160200">
                <a:moveTo>
                  <a:pt x="0" y="0"/>
                </a:moveTo>
                <a:lnTo>
                  <a:pt x="1173199" y="0"/>
                </a:lnTo>
                <a:lnTo>
                  <a:pt x="1173199" y="1160200"/>
                </a:lnTo>
                <a:lnTo>
                  <a:pt x="0" y="1160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946792" y="4017132"/>
            <a:ext cx="721718" cy="1301535"/>
          </a:xfrm>
          <a:custGeom>
            <a:avLst/>
            <a:gdLst/>
            <a:ahLst/>
            <a:cxnLst/>
            <a:rect l="l" t="t" r="r" b="b"/>
            <a:pathLst>
              <a:path w="721718" h="1301535">
                <a:moveTo>
                  <a:pt x="0" y="0"/>
                </a:moveTo>
                <a:lnTo>
                  <a:pt x="721718" y="0"/>
                </a:lnTo>
                <a:lnTo>
                  <a:pt x="721718" y="1301535"/>
                </a:lnTo>
                <a:lnTo>
                  <a:pt x="0" y="13015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49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4758444" y="5836162"/>
            <a:ext cx="2527483" cy="1208980"/>
          </a:xfrm>
          <a:custGeom>
            <a:avLst/>
            <a:gdLst/>
            <a:ahLst/>
            <a:cxnLst/>
            <a:rect l="l" t="t" r="r" b="b"/>
            <a:pathLst>
              <a:path w="2527483" h="1208980">
                <a:moveTo>
                  <a:pt x="0" y="0"/>
                </a:moveTo>
                <a:lnTo>
                  <a:pt x="2527483" y="0"/>
                </a:lnTo>
                <a:lnTo>
                  <a:pt x="2527483" y="1208980"/>
                </a:lnTo>
                <a:lnTo>
                  <a:pt x="0" y="1208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4400796" y="7578323"/>
            <a:ext cx="2041248" cy="1442103"/>
          </a:xfrm>
          <a:custGeom>
            <a:avLst/>
            <a:gdLst/>
            <a:ahLst/>
            <a:cxnLst/>
            <a:rect l="l" t="t" r="r" b="b"/>
            <a:pathLst>
              <a:path w="2041248" h="1442103">
                <a:moveTo>
                  <a:pt x="0" y="0"/>
                </a:moveTo>
                <a:lnTo>
                  <a:pt x="2041248" y="0"/>
                </a:lnTo>
                <a:lnTo>
                  <a:pt x="2041248" y="1442103"/>
                </a:lnTo>
                <a:lnTo>
                  <a:pt x="0" y="14421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385" r="-33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2329062" y="3994441"/>
            <a:ext cx="3595427" cy="10805929"/>
          </a:xfrm>
          <a:custGeom>
            <a:avLst/>
            <a:gdLst/>
            <a:ahLst/>
            <a:cxnLst/>
            <a:rect l="l" t="t" r="r" b="b"/>
            <a:pathLst>
              <a:path w="3595427" h="10805929">
                <a:moveTo>
                  <a:pt x="0" y="0"/>
                </a:moveTo>
                <a:lnTo>
                  <a:pt x="3595427" y="0"/>
                </a:lnTo>
                <a:lnTo>
                  <a:pt x="3595427" y="10805929"/>
                </a:lnTo>
                <a:lnTo>
                  <a:pt x="0" y="108059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99338" y="823766"/>
            <a:ext cx="7654875" cy="63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21"/>
              </a:lnSpc>
            </a:pPr>
            <a:r>
              <a:rPr lang="en-US" sz="3729">
                <a:solidFill>
                  <a:srgbClr val="FFFFFF"/>
                </a:solidFill>
                <a:latin typeface="Genty Sans"/>
              </a:rPr>
              <a:t>EQUIPMENTS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9338" y="1752418"/>
            <a:ext cx="6746001" cy="735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8"/>
              </a:lnSpc>
            </a:pPr>
            <a:r>
              <a:rPr lang="en-US" sz="1413">
                <a:solidFill>
                  <a:srgbClr val="FFFFFF"/>
                </a:solidFill>
                <a:latin typeface="Arial Nova Bold"/>
              </a:rPr>
              <a:t>THESE TOOLS ARE MANDATORY FOR CREATION OF ADVANCED TECHINCAL PUBLICATIONS. </a:t>
            </a:r>
          </a:p>
          <a:p>
            <a:pPr algn="just">
              <a:lnSpc>
                <a:spcPts val="1978"/>
              </a:lnSpc>
            </a:pPr>
            <a:endParaRPr lang="en-US" sz="1413">
              <a:solidFill>
                <a:srgbClr val="FFFFFF"/>
              </a:solidFill>
              <a:latin typeface="Arial Nova Bold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0" y="8961808"/>
            <a:ext cx="1605033" cy="1749242"/>
          </a:xfrm>
          <a:custGeom>
            <a:avLst/>
            <a:gdLst/>
            <a:ahLst/>
            <a:cxnLst/>
            <a:rect l="l" t="t" r="r" b="b"/>
            <a:pathLst>
              <a:path w="1605033" h="1749242">
                <a:moveTo>
                  <a:pt x="0" y="0"/>
                </a:moveTo>
                <a:lnTo>
                  <a:pt x="1605033" y="0"/>
                </a:lnTo>
                <a:lnTo>
                  <a:pt x="1605033" y="1749242"/>
                </a:lnTo>
                <a:lnTo>
                  <a:pt x="0" y="17492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8000"/>
            </a:blip>
            <a:stretch>
              <a:fillRect l="-1801" r="-718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884000" flipV="1">
            <a:off x="-2732699" y="-1021515"/>
            <a:ext cx="13018723" cy="12739605"/>
          </a:xfrm>
          <a:custGeom>
            <a:avLst/>
            <a:gdLst/>
            <a:ahLst/>
            <a:cxnLst/>
            <a:rect l="l" t="t" r="r" b="b"/>
            <a:pathLst>
              <a:path w="13018723" h="12739605">
                <a:moveTo>
                  <a:pt x="13018723" y="5665833"/>
                </a:moveTo>
                <a:lnTo>
                  <a:pt x="8023619" y="0"/>
                </a:lnTo>
                <a:lnTo>
                  <a:pt x="0" y="7073772"/>
                </a:lnTo>
                <a:lnTo>
                  <a:pt x="4995104" y="12739605"/>
                </a:lnTo>
                <a:lnTo>
                  <a:pt x="13018723" y="5665833"/>
                </a:lnTo>
                <a:close/>
              </a:path>
            </a:pathLst>
          </a:custGeom>
          <a:blipFill>
            <a:blip r:embed="rId2"/>
            <a:stretch>
              <a:fillRect l="-198983" t="-205476" r="-1212" b="-129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99338" y="166659"/>
            <a:ext cx="2611390" cy="219647"/>
            <a:chOff x="0" y="0"/>
            <a:chExt cx="3481853" cy="29286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21869"/>
              <a:ext cx="249154" cy="249154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84000" tIns="84000" rIns="84000" bIns="84000" rtlCol="0" anchor="ctr"/>
              <a:lstStyle/>
              <a:p>
                <a:pPr algn="ctr">
                  <a:lnSpc>
                    <a:spcPts val="2083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342910" y="-28575"/>
              <a:ext cx="3138943" cy="321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49"/>
                </a:lnSpc>
              </a:pPr>
              <a:r>
                <a:rPr lang="en-US" sz="1463">
                  <a:solidFill>
                    <a:srgbClr val="FFFFFF"/>
                  </a:solidFill>
                  <a:latin typeface="Arial Nova"/>
                </a:rPr>
                <a:t>ANNEX ‘B’</a:t>
              </a: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299338" y="2248626"/>
          <a:ext cx="6986590" cy="8382179"/>
        </p:xfrm>
        <a:graphic>
          <a:graphicData uri="http://schemas.openxmlformats.org/drawingml/2006/table">
            <a:tbl>
              <a:tblPr/>
              <a:tblGrid>
                <a:gridCol w="1735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9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6129">
                <a:tc>
                  <a:txBody>
                    <a:bodyPr/>
                    <a:lstStyle/>
                    <a:p>
                      <a:pPr algn="l">
                        <a:lnSpc>
                          <a:spcPts val="2143"/>
                        </a:lnSpc>
                        <a:defRPr/>
                      </a:pPr>
                      <a:r>
                        <a:rPr lang="en-US" sz="1531">
                          <a:solidFill>
                            <a:srgbClr val="FFFFFF"/>
                          </a:solidFill>
                          <a:latin typeface="Canva Sans Bold"/>
                        </a:rPr>
                        <a:t>Resource Type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CA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43"/>
                        </a:lnSpc>
                        <a:defRPr/>
                      </a:pPr>
                      <a:r>
                        <a:rPr lang="en-US" sz="1531">
                          <a:solidFill>
                            <a:srgbClr val="FFFFFF"/>
                          </a:solidFill>
                          <a:latin typeface="Canva Sans Bold"/>
                        </a:rPr>
                        <a:t>Resource Name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CA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43"/>
                        </a:lnSpc>
                        <a:defRPr/>
                      </a:pPr>
                      <a:r>
                        <a:rPr lang="en-US" sz="1531">
                          <a:solidFill>
                            <a:srgbClr val="FFFFFF"/>
                          </a:solidFill>
                          <a:latin typeface="Canva Sans Bold"/>
                        </a:rPr>
                        <a:t>Quantity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CA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43"/>
                        </a:lnSpc>
                        <a:defRPr/>
                      </a:pPr>
                      <a:r>
                        <a:rPr lang="en-US" sz="1531">
                          <a:solidFill>
                            <a:srgbClr val="FFFFFF"/>
                          </a:solidFill>
                          <a:latin typeface="Canva Sans Bold"/>
                        </a:rPr>
                        <a:t>Estimated Cost 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C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305"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Printer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HP Color LaserJet MFP M281fdw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2 units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$550 * 2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4626">
                <a:tc gridSpan="2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 Bold"/>
                        </a:rPr>
                        <a:t>Key Benefit: </a:t>
                      </a: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It enables high-quality color printing and multifunctional document handling for publication proofing and distribution.</a:t>
                      </a: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 Bold"/>
                        </a:rPr>
                        <a:t>Key Benefit: </a:t>
                      </a: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It enables high-quality color printing and multifunctional document handling for publication proofing and distribution.</a:t>
                      </a: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305"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Scanner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Epson RapidReceipt</a:t>
                      </a: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  RR-600W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1 unit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$400 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2355">
                <a:tc gridSpan="2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 Bold"/>
                        </a:rPr>
                        <a:t>Key Benefit:</a:t>
                      </a: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It facilitates fast digitization of documents, aiding in efficient digital archive management for publications.</a:t>
                      </a: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 Bold"/>
                        </a:rPr>
                        <a:t>Key Benefit:</a:t>
                      </a: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It facilitates fast digitization of documents, aiding in efficient digital archive management for publications.</a:t>
                      </a: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440"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Camera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Canon EOS 90D DSLR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2 unit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$1200 *2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3490">
                <a:tc gridSpan="2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 Bold"/>
                        </a:rPr>
                        <a:t>Key Benefit: </a:t>
                      </a: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It captures high-resolution images essential for professional-quality visual content in technical publications.</a:t>
                      </a: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 Bold"/>
                        </a:rPr>
                        <a:t>Key Benefit: </a:t>
                      </a:r>
                      <a:endParaRPr lang="en-US" sz="1100"/>
                    </a:p>
                    <a:p>
                      <a:pPr>
                        <a:lnSpc>
                          <a:spcPts val="1863"/>
                        </a:lnSpc>
                      </a:pPr>
                      <a:r>
                        <a:rPr lang="en-US" sz="1331">
                          <a:solidFill>
                            <a:srgbClr val="FFFFFF"/>
                          </a:solidFill>
                          <a:latin typeface="Canva Sans"/>
                        </a:rPr>
                        <a:t>It captures high-resolution images essential for professional-quality visual content in technical publications.</a:t>
                      </a: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  <a:p>
                      <a:pPr>
                        <a:lnSpc>
                          <a:spcPts val="1863"/>
                        </a:lnSpc>
                      </a:pPr>
                      <a:endParaRPr lang="en-US" sz="1331">
                        <a:solidFill>
                          <a:srgbClr val="FFFFFF"/>
                        </a:solidFill>
                        <a:latin typeface="Canva Sans"/>
                      </a:endParaRP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863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Freeform 9"/>
          <p:cNvSpPr/>
          <p:nvPr/>
        </p:nvSpPr>
        <p:spPr>
          <a:xfrm>
            <a:off x="6245396" y="32029"/>
            <a:ext cx="1314604" cy="1214398"/>
          </a:xfrm>
          <a:custGeom>
            <a:avLst/>
            <a:gdLst/>
            <a:ahLst/>
            <a:cxnLst/>
            <a:rect l="l" t="t" r="r" b="b"/>
            <a:pathLst>
              <a:path w="1314604" h="1214398">
                <a:moveTo>
                  <a:pt x="0" y="0"/>
                </a:moveTo>
                <a:lnTo>
                  <a:pt x="1314604" y="0"/>
                </a:lnTo>
                <a:lnTo>
                  <a:pt x="1314604" y="1214398"/>
                </a:lnTo>
                <a:lnTo>
                  <a:pt x="0" y="121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4994162" y="3715177"/>
            <a:ext cx="1993549" cy="1526396"/>
          </a:xfrm>
          <a:custGeom>
            <a:avLst/>
            <a:gdLst/>
            <a:ahLst/>
            <a:cxnLst/>
            <a:rect l="l" t="t" r="r" b="b"/>
            <a:pathLst>
              <a:path w="1993549" h="1526396">
                <a:moveTo>
                  <a:pt x="0" y="0"/>
                </a:moveTo>
                <a:lnTo>
                  <a:pt x="1993549" y="0"/>
                </a:lnTo>
                <a:lnTo>
                  <a:pt x="1993549" y="1526396"/>
                </a:lnTo>
                <a:lnTo>
                  <a:pt x="0" y="15263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853413" y="5765451"/>
            <a:ext cx="2347048" cy="2467248"/>
          </a:xfrm>
          <a:custGeom>
            <a:avLst/>
            <a:gdLst/>
            <a:ahLst/>
            <a:cxnLst/>
            <a:rect l="l" t="t" r="r" b="b"/>
            <a:pathLst>
              <a:path w="2347048" h="2467248">
                <a:moveTo>
                  <a:pt x="0" y="0"/>
                </a:moveTo>
                <a:lnTo>
                  <a:pt x="2347048" y="0"/>
                </a:lnTo>
                <a:lnTo>
                  <a:pt x="2347048" y="2467248"/>
                </a:lnTo>
                <a:lnTo>
                  <a:pt x="0" y="24672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234" b="-22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5064870" y="8756574"/>
            <a:ext cx="1980469" cy="1757502"/>
          </a:xfrm>
          <a:custGeom>
            <a:avLst/>
            <a:gdLst/>
            <a:ahLst/>
            <a:cxnLst/>
            <a:rect l="l" t="t" r="r" b="b"/>
            <a:pathLst>
              <a:path w="1980469" h="1757502">
                <a:moveTo>
                  <a:pt x="0" y="0"/>
                </a:moveTo>
                <a:lnTo>
                  <a:pt x="1980469" y="0"/>
                </a:lnTo>
                <a:lnTo>
                  <a:pt x="1980469" y="1757502"/>
                </a:lnTo>
                <a:lnTo>
                  <a:pt x="0" y="17575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99338" y="607800"/>
            <a:ext cx="7654875" cy="63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21"/>
              </a:lnSpc>
            </a:pPr>
            <a:r>
              <a:rPr lang="en-US" sz="3729">
                <a:solidFill>
                  <a:srgbClr val="FFFFFF"/>
                </a:solidFill>
                <a:latin typeface="Genty Sans"/>
              </a:rPr>
              <a:t>EQUIPMENTS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9338" y="1513127"/>
            <a:ext cx="6746001" cy="735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8"/>
              </a:lnSpc>
            </a:pPr>
            <a:r>
              <a:rPr lang="en-US" sz="1413">
                <a:solidFill>
                  <a:srgbClr val="FFFFFF"/>
                </a:solidFill>
                <a:latin typeface="Arial Nova Bold"/>
              </a:rPr>
              <a:t>THESE TOOLS ARE MANDATORY FOR CREATION OF ADVANCED TECHINCAL PUBLICATIONS. </a:t>
            </a:r>
          </a:p>
          <a:p>
            <a:pPr algn="just">
              <a:lnSpc>
                <a:spcPts val="1978"/>
              </a:lnSpc>
            </a:pPr>
            <a:endParaRPr lang="en-US" sz="1413">
              <a:solidFill>
                <a:srgbClr val="FFFFFF"/>
              </a:solidFill>
              <a:latin typeface="Arial Nova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726" y="-117852"/>
            <a:ext cx="3951726" cy="4047391"/>
          </a:xfrm>
          <a:custGeom>
            <a:avLst/>
            <a:gdLst/>
            <a:ahLst/>
            <a:cxnLst/>
            <a:rect l="l" t="t" r="r" b="b"/>
            <a:pathLst>
              <a:path w="3951726" h="4047391">
                <a:moveTo>
                  <a:pt x="0" y="0"/>
                </a:moveTo>
                <a:lnTo>
                  <a:pt x="3951726" y="0"/>
                </a:lnTo>
                <a:lnTo>
                  <a:pt x="3951726" y="4047391"/>
                </a:lnTo>
                <a:lnTo>
                  <a:pt x="0" y="40473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8345" y="613488"/>
            <a:ext cx="567814" cy="549634"/>
          </a:xfrm>
          <a:custGeom>
            <a:avLst/>
            <a:gdLst/>
            <a:ahLst/>
            <a:cxnLst/>
            <a:rect l="l" t="t" r="r" b="b"/>
            <a:pathLst>
              <a:path w="567814" h="549634">
                <a:moveTo>
                  <a:pt x="0" y="0"/>
                </a:moveTo>
                <a:lnTo>
                  <a:pt x="567814" y="0"/>
                </a:lnTo>
                <a:lnTo>
                  <a:pt x="567814" y="549634"/>
                </a:lnTo>
                <a:lnTo>
                  <a:pt x="0" y="549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5549567" y="6647261"/>
            <a:ext cx="3774465" cy="377446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AB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6000" y="9575935"/>
            <a:ext cx="467352" cy="46735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AB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860353" y="9672989"/>
            <a:ext cx="258646" cy="255824"/>
          </a:xfrm>
          <a:custGeom>
            <a:avLst/>
            <a:gdLst/>
            <a:ahLst/>
            <a:cxnLst/>
            <a:rect l="l" t="t" r="r" b="b"/>
            <a:pathLst>
              <a:path w="258646" h="255824">
                <a:moveTo>
                  <a:pt x="0" y="0"/>
                </a:moveTo>
                <a:lnTo>
                  <a:pt x="258646" y="0"/>
                </a:lnTo>
                <a:lnTo>
                  <a:pt x="258646" y="255824"/>
                </a:lnTo>
                <a:lnTo>
                  <a:pt x="0" y="255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804137" y="1196369"/>
            <a:ext cx="5710196" cy="2978608"/>
          </a:xfrm>
          <a:custGeom>
            <a:avLst/>
            <a:gdLst/>
            <a:ahLst/>
            <a:cxnLst/>
            <a:rect l="l" t="t" r="r" b="b"/>
            <a:pathLst>
              <a:path w="5710196" h="2978608">
                <a:moveTo>
                  <a:pt x="0" y="0"/>
                </a:moveTo>
                <a:lnTo>
                  <a:pt x="5710196" y="0"/>
                </a:lnTo>
                <a:lnTo>
                  <a:pt x="5710196" y="2978608"/>
                </a:lnTo>
                <a:lnTo>
                  <a:pt x="0" y="29786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30" r="-1030" b="-86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171726" y="4174977"/>
            <a:ext cx="3207764" cy="1804015"/>
          </a:xfrm>
          <a:custGeom>
            <a:avLst/>
            <a:gdLst/>
            <a:ahLst/>
            <a:cxnLst/>
            <a:rect l="l" t="t" r="r" b="b"/>
            <a:pathLst>
              <a:path w="3207764" h="1804015">
                <a:moveTo>
                  <a:pt x="0" y="0"/>
                </a:moveTo>
                <a:lnTo>
                  <a:pt x="3207764" y="0"/>
                </a:lnTo>
                <a:lnTo>
                  <a:pt x="3207764" y="1804015"/>
                </a:lnTo>
                <a:lnTo>
                  <a:pt x="0" y="18040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5335654" y="4174977"/>
            <a:ext cx="2224346" cy="2224346"/>
          </a:xfrm>
          <a:custGeom>
            <a:avLst/>
            <a:gdLst/>
            <a:ahLst/>
            <a:cxnLst/>
            <a:rect l="l" t="t" r="r" b="b"/>
            <a:pathLst>
              <a:path w="2224346" h="2224346">
                <a:moveTo>
                  <a:pt x="0" y="0"/>
                </a:moveTo>
                <a:lnTo>
                  <a:pt x="2224346" y="0"/>
                </a:lnTo>
                <a:lnTo>
                  <a:pt x="2224346" y="2224346"/>
                </a:lnTo>
                <a:lnTo>
                  <a:pt x="0" y="22243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0" y="6799618"/>
            <a:ext cx="2877024" cy="2877024"/>
          </a:xfrm>
          <a:custGeom>
            <a:avLst/>
            <a:gdLst/>
            <a:ahLst/>
            <a:cxnLst/>
            <a:rect l="l" t="t" r="r" b="b"/>
            <a:pathLst>
              <a:path w="2877024" h="2877024">
                <a:moveTo>
                  <a:pt x="0" y="0"/>
                </a:moveTo>
                <a:lnTo>
                  <a:pt x="2877024" y="0"/>
                </a:lnTo>
                <a:lnTo>
                  <a:pt x="2877024" y="2877025"/>
                </a:lnTo>
                <a:lnTo>
                  <a:pt x="0" y="28770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3158465" y="66675"/>
            <a:ext cx="4782205" cy="1119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6"/>
              </a:lnSpc>
            </a:pPr>
            <a:r>
              <a:rPr lang="en-US" sz="4431" spc="-225">
                <a:solidFill>
                  <a:srgbClr val="091D2E"/>
                </a:solidFill>
                <a:latin typeface="Telegraf Ultra-Bold"/>
              </a:rPr>
              <a:t>Workstation </a:t>
            </a:r>
            <a:r>
              <a:rPr lang="en-US" sz="4431" spc="-225">
                <a:solidFill>
                  <a:srgbClr val="8DABA8"/>
                </a:solidFill>
                <a:latin typeface="Telegraf Ultra-Bold"/>
              </a:rPr>
              <a:t>Cubicles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1417" y="629300"/>
            <a:ext cx="1797048" cy="567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27"/>
              </a:lnSpc>
            </a:pPr>
            <a:r>
              <a:rPr lang="en-US" sz="1936">
                <a:solidFill>
                  <a:srgbClr val="FDF8F4"/>
                </a:solidFill>
                <a:latin typeface="League Spartan Bold"/>
              </a:rPr>
              <a:t>INGOUDE COMPANY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9002" y="9581393"/>
            <a:ext cx="2312249" cy="361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16"/>
              </a:lnSpc>
            </a:pPr>
            <a:r>
              <a:rPr lang="en-US" sz="1800" spc="-91">
                <a:solidFill>
                  <a:srgbClr val="091D2E"/>
                </a:solidFill>
                <a:latin typeface="Poppins"/>
              </a:rPr>
              <a:t>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400</Words>
  <Application>Microsoft Office PowerPoint</Application>
  <PresentationFormat>Custom</PresentationFormat>
  <Paragraphs>85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Calibri</vt:lpstr>
      <vt:lpstr>Arial</vt:lpstr>
      <vt:lpstr>Canva Sans Bold</vt:lpstr>
      <vt:lpstr>Canva Sans</vt:lpstr>
      <vt:lpstr>Arial Nova Bold</vt:lpstr>
      <vt:lpstr>Arial Nova</vt:lpstr>
      <vt:lpstr>League Spartan Bold</vt:lpstr>
      <vt:lpstr>Poppins</vt:lpstr>
      <vt:lpstr>Genty Sans</vt:lpstr>
      <vt:lpstr>Telegraf Ultra-Bold</vt:lpstr>
      <vt:lpstr>Baron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Blue Gradient Hiring Flyer</dc:title>
  <cp:lastModifiedBy>toheed akhtar</cp:lastModifiedBy>
  <cp:revision>4</cp:revision>
  <dcterms:created xsi:type="dcterms:W3CDTF">2006-08-16T00:00:00Z</dcterms:created>
  <dcterms:modified xsi:type="dcterms:W3CDTF">2024-03-02T16:24:30Z</dcterms:modified>
  <dc:identifier>DAF-VC5UBXg</dc:identifier>
</cp:coreProperties>
</file>